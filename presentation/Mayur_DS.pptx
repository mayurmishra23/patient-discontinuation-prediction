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81"/>
  </p:normalViewPr>
  <p:slideViewPr>
    <p:cSldViewPr snapToGrid="0">
      <p:cViewPr>
        <p:scale>
          <a:sx n="115" d="100"/>
          <a:sy n="115" d="100"/>
        </p:scale>
        <p:origin x="5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Disc.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B01-9A45-868F-40E06811C99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B01-9A45-868F-40E06811C9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B01-9A45-868F-40E06811C99D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B01-9A45-868F-40E06811C99D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B01-9A45-868F-40E06811C99D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8B01-9A45-868F-40E06811C99D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8B01-9A45-868F-40E06811C99D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8B01-9A45-868F-40E06811C99D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E-8B01-9A45-868F-40E06811C99D}"/>
              </c:ext>
            </c:extLst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0-8B01-9A45-868F-40E06811C9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D10</c:v>
                </c:pt>
                <c:pt idx="1">
                  <c:v>D9</c:v>
                </c:pt>
                <c:pt idx="2">
                  <c:v>D8</c:v>
                </c:pt>
                <c:pt idx="3">
                  <c:v>D7</c:v>
                </c:pt>
                <c:pt idx="4">
                  <c:v>D6</c:v>
                </c:pt>
                <c:pt idx="5">
                  <c:v>D5</c:v>
                </c:pt>
                <c:pt idx="6">
                  <c:v>D4</c:v>
                </c:pt>
                <c:pt idx="7">
                  <c:v>D3</c:v>
                </c:pt>
                <c:pt idx="8">
                  <c:v>D2</c:v>
                </c:pt>
                <c:pt idx="9">
                  <c:v>D1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95.7</c:v>
                </c:pt>
                <c:pt idx="1">
                  <c:v>73</c:v>
                </c:pt>
                <c:pt idx="2">
                  <c:v>47.3</c:v>
                </c:pt>
                <c:pt idx="3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B01-9A45-868F-40E06811C9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76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B11-4741-B1CC-AA04E037490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11-4741-B1CC-AA04E0374909}"/>
              </c:ext>
            </c:extLst>
          </c:dPt>
          <c:dPt>
            <c:idx val="2"/>
            <c:invertIfNegative val="0"/>
            <c:bubble3D val="0"/>
            <c:spPr>
              <a:solidFill>
                <a:srgbClr val="1294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11-4741-B1CC-AA04E0374909}"/>
              </c:ext>
            </c:extLst>
          </c:dPt>
          <c:dPt>
            <c:idx val="3"/>
            <c:invertIfNegative val="0"/>
            <c:bubble3D val="0"/>
            <c:spPr>
              <a:solidFill>
                <a:srgbClr val="1294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11-4741-B1CC-AA04E0374909}"/>
              </c:ext>
            </c:extLst>
          </c:dPt>
          <c:dPt>
            <c:idx val="4"/>
            <c:invertIfNegative val="0"/>
            <c:bubble3D val="0"/>
            <c:spPr>
              <a:solidFill>
                <a:srgbClr val="1B8A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11-4741-B1CC-AA04E0374909}"/>
              </c:ext>
            </c:extLst>
          </c:dPt>
          <c:dPt>
            <c:idx val="5"/>
            <c:invertIfNegative val="0"/>
            <c:bubble3D val="0"/>
            <c:spPr>
              <a:solidFill>
                <a:srgbClr val="1B8A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11-4741-B1CC-AA04E0374909}"/>
              </c:ext>
            </c:extLst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Refill Gap Variability</c:v>
                </c:pt>
                <c:pt idx="1">
                  <c:v>Site Hist. Disc. Rate</c:v>
                </c:pt>
                <c:pt idx="2">
                  <c:v>Mean Refill Gap</c:v>
                </c:pt>
                <c:pt idx="3">
                  <c:v>Fill at Anchor</c:v>
                </c:pt>
                <c:pt idx="4">
                  <c:v>Support Calls</c:v>
                </c:pt>
                <c:pt idx="5">
                  <c:v>Max Refill Gap (days)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3.2000000000000002E-3</c:v>
                </c:pt>
                <c:pt idx="1">
                  <c:v>5.1999999999999998E-3</c:v>
                </c:pt>
                <c:pt idx="2">
                  <c:v>5.4000000000000003E-3</c:v>
                </c:pt>
                <c:pt idx="3">
                  <c:v>6.3E-3</c:v>
                </c:pt>
                <c:pt idx="4">
                  <c:v>5.2499999999999998E-2</c:v>
                </c:pt>
                <c:pt idx="5">
                  <c:v>0.17730000000000001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741-B1CC-AA04E03749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01B-2544-BA2C-1CDCA22E3F88}"/>
              </c:ext>
            </c:extLst>
          </c:dPt>
          <c:dPt>
            <c:idx val="1"/>
            <c:invertIfNegative val="0"/>
            <c:bubble3D val="0"/>
            <c:spPr>
              <a:solidFill>
                <a:srgbClr val="E89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E01B-2544-BA2C-1CDCA22E3F88}"/>
              </c:ext>
            </c:extLst>
          </c:dPt>
          <c:dPt>
            <c:idx val="2"/>
            <c:invertIfNegative val="0"/>
            <c:bubble3D val="0"/>
            <c:spPr>
              <a:solidFill>
                <a:srgbClr val="0D76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E01B-2544-BA2C-1CDCA22E3F88}"/>
              </c:ext>
            </c:extLst>
          </c:dPt>
          <c:dPt>
            <c:idx val="3"/>
            <c:invertIfNegative val="0"/>
            <c:bubble3D val="0"/>
            <c:spPr>
              <a:solidFill>
                <a:srgbClr val="1294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E01B-2544-BA2C-1CDCA22E3F88}"/>
              </c:ext>
            </c:extLst>
          </c:dPt>
          <c:dPt>
            <c:idx val="4"/>
            <c:invertIfNegative val="0"/>
            <c:bubble3D val="0"/>
            <c:spPr>
              <a:solidFill>
                <a:srgbClr val="1B8A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E01B-2544-BA2C-1CDCA22E3F88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E01B-2544-BA2C-1CDCA22E3F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Refill Rejected</c:v>
                </c:pt>
                <c:pt idx="1">
                  <c:v>PA Denied, No Appeal</c:v>
                </c:pt>
                <c:pt idx="2">
                  <c:v>High Cost Share</c:v>
                </c:pt>
                <c:pt idx="3">
                  <c:v>Restricted Payer</c:v>
                </c:pt>
                <c:pt idx="4">
                  <c:v>Early Therapy</c:v>
                </c:pt>
                <c:pt idx="5">
                  <c:v>Refill Due Soon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460</c:v>
                </c:pt>
                <c:pt idx="1">
                  <c:v>107</c:v>
                </c:pt>
                <c:pt idx="2">
                  <c:v>216</c:v>
                </c:pt>
                <c:pt idx="3">
                  <c:v>136</c:v>
                </c:pt>
                <c:pt idx="4">
                  <c:v>147</c:v>
                </c:pt>
                <c:pt idx="5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01B-2544-BA2C-1CDCA22E3F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76B3D-A40A-C014-9B6D-AD998BC21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46A0-CADA-B97E-CE2D-A69A8DCBB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DC95A-E4D1-52C7-0BC1-D9F742AF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AE176-98FC-4428-4C35-6F94336C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81133-9BBD-A2AB-8BA3-8728DAD8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0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51E7-8310-F9D6-60A5-F64AB341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D1916-F890-BCCF-4C31-D32B2F68F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D2408-801C-56B7-F1BB-B815C228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27FB9-6327-0287-5DF2-DDAE2C801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BC547-6E37-FA15-EEDC-E0E6F927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2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F7E4B-DE5D-F374-207F-36511728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F8645-45FE-043A-E9CB-42C300267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E2849-B825-7F77-E61C-FA17DFE0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467F-7C45-0C7F-64E7-629438A5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0F502-E31E-4DDA-ECE6-C7FFF584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7543-7D07-9F3C-0092-24F50A27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991A0-8CB8-D4EE-4D20-15062564D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07FBE-234B-EB55-48AD-007B453B5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2B507-ABA4-029D-E2D3-BE2FD5DA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9CBD2-3694-AC7C-A4F8-BA58FF0D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9684C-B7AB-DC56-4882-2E4CD9B4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5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510A-D852-3E4D-CD49-8298605A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9822C-533A-21AD-8DF4-25F1BB8C8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B66AB-8825-29A6-1EE7-2AA736B71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057ED-049A-B52F-7FC3-9BCC4C64B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40A8E9-1707-6447-9FBF-E92CE91A9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93A16-6F70-A2C9-291D-DD87AEB9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E943C-D272-4BC3-7769-93BB3A38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DC3B1-F94D-0788-896E-106A6054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A976-F88C-9569-67A9-DF4BAB4B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0E93E-C85E-FC7A-F1A9-4BB258D5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3A434-E7CB-04BD-2B8F-FACE222C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707EE-5C18-9CA1-F46F-BC7B11EB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1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587FF-E1A2-BE25-D550-81E286D5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E738C-EE00-9396-4ADA-221D5D2E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37164-3DF1-319D-B930-1DE060BF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4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817C-08C0-5444-EC47-D68ED05E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3853C-A35A-9D3F-C82E-79E085902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BEC12-0DE6-7EB2-45E1-BA8514867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8611-1F3D-A4AC-685A-785C8D8E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51A40-BE95-7DCA-8114-7A6286B8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BAA5B-B406-D6DE-387B-49B10354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D460-898F-CD56-7205-F8E194C6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FD1DB-6AC3-C8F1-0C43-A5A85DCDD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4350B-7E40-FA92-DE60-EFB10BCCD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ABF70-ABE5-54DA-CBC3-3D04D77C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0AF09-D8FE-FC79-1232-BD5F51B6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351FB-1FA2-D119-FB01-C943B339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7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2930-F289-7DE7-208C-FC8748C6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D9B5B-8741-4030-4C80-3164C0479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4499-D850-334C-FB9A-9EC49875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3F828-7C43-89FD-12A7-22F63B88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A0564-4086-9B11-F2EF-C1EA948B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9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88CAD-51AD-8785-A01F-435B1D9F4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A8DE4-6862-82E3-1B30-1A7CCE84C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5C0B5-7EC4-D2E4-B049-C3556708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A0353-1C6B-9325-C013-9FA4B17D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3189C-0273-AB12-D644-01484D15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3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7E44B-B0EF-7AAF-EEF9-F86F499FC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85829-F675-8E41-B86D-8D516A73B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1AAFF-A4EE-9D96-08AA-2BD7E9F43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9553B-01E8-CF45-AAA6-E66F114554E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1B166-4E73-307A-BC10-B48EAAC3A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511BE-5C3D-2134-D01A-5019C8A0E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5F00C-07B4-7D46-873E-8DBECE5DC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1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DE3B-824F-832C-EADA-EF75DDC56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Specialty Therapy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Discontinuation Prediction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EB7A937D-DB76-702D-8AED-5F9E8070FF08}"/>
              </a:ext>
            </a:extLst>
          </p:cNvPr>
          <p:cNvSpPr/>
          <p:nvPr/>
        </p:nvSpPr>
        <p:spPr>
          <a:xfrm>
            <a:off x="1999488" y="3833948"/>
            <a:ext cx="1920240" cy="64008"/>
          </a:xfrm>
          <a:prstGeom prst="rect">
            <a:avLst/>
          </a:prstGeom>
          <a:solidFill>
            <a:srgbClr val="0D7680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4DDAC213-E895-329E-D894-7E38943FA83A}"/>
              </a:ext>
            </a:extLst>
          </p:cNvPr>
          <p:cNvSpPr/>
          <p:nvPr/>
        </p:nvSpPr>
        <p:spPr>
          <a:xfrm>
            <a:off x="1999488" y="3952820"/>
            <a:ext cx="1920240" cy="65836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3,000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141AC103-50DD-2C30-28A2-7E4866D371B9}"/>
              </a:ext>
            </a:extLst>
          </p:cNvPr>
          <p:cNvSpPr/>
          <p:nvPr/>
        </p:nvSpPr>
        <p:spPr>
          <a:xfrm>
            <a:off x="1999488" y="4592900"/>
            <a:ext cx="1920240" cy="3840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 Scored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7BF9721C-D7A3-46FC-882D-F755E88031C0}"/>
              </a:ext>
            </a:extLst>
          </p:cNvPr>
          <p:cNvSpPr/>
          <p:nvPr/>
        </p:nvSpPr>
        <p:spPr>
          <a:xfrm>
            <a:off x="4175760" y="3833948"/>
            <a:ext cx="1920240" cy="64008"/>
          </a:xfrm>
          <a:prstGeom prst="rect">
            <a:avLst/>
          </a:prstGeom>
          <a:solidFill>
            <a:srgbClr val="0D7680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1079084A-6675-3C19-1B75-BC2EA9062B9E}"/>
              </a:ext>
            </a:extLst>
          </p:cNvPr>
          <p:cNvSpPr/>
          <p:nvPr/>
        </p:nvSpPr>
        <p:spPr>
          <a:xfrm>
            <a:off x="4175760" y="3952820"/>
            <a:ext cx="1920240" cy="65836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23.4%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3FCADF41-FD96-E51A-91E3-E0582DCA4087}"/>
              </a:ext>
            </a:extLst>
          </p:cNvPr>
          <p:cNvSpPr/>
          <p:nvPr/>
        </p:nvSpPr>
        <p:spPr>
          <a:xfrm>
            <a:off x="4175760" y="4592900"/>
            <a:ext cx="1920240" cy="3840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Disc. Rate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871C8EA4-20DB-AFED-0EC2-59F908FCA4D3}"/>
              </a:ext>
            </a:extLst>
          </p:cNvPr>
          <p:cNvSpPr/>
          <p:nvPr/>
        </p:nvSpPr>
        <p:spPr>
          <a:xfrm>
            <a:off x="6352032" y="3833948"/>
            <a:ext cx="1920240" cy="64008"/>
          </a:xfrm>
          <a:prstGeom prst="rect">
            <a:avLst/>
          </a:prstGeom>
          <a:solidFill>
            <a:srgbClr val="0D7680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645AE1D0-9DE7-FDE4-EF6C-D8FC84ABCB5C}"/>
              </a:ext>
            </a:extLst>
          </p:cNvPr>
          <p:cNvSpPr/>
          <p:nvPr/>
        </p:nvSpPr>
        <p:spPr>
          <a:xfrm>
            <a:off x="6352032" y="3952820"/>
            <a:ext cx="1920240" cy="65836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0.969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0F7DDFD3-DBD9-1F0E-E861-A4D665A43CCC}"/>
              </a:ext>
            </a:extLst>
          </p:cNvPr>
          <p:cNvSpPr/>
          <p:nvPr/>
        </p:nvSpPr>
        <p:spPr>
          <a:xfrm>
            <a:off x="6352032" y="4592900"/>
            <a:ext cx="1920240" cy="3840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ROC-AUC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07752E2B-7F1E-814F-D152-B921EBD29F26}"/>
              </a:ext>
            </a:extLst>
          </p:cNvPr>
          <p:cNvSpPr/>
          <p:nvPr/>
        </p:nvSpPr>
        <p:spPr>
          <a:xfrm>
            <a:off x="8528304" y="3833948"/>
            <a:ext cx="1920240" cy="64008"/>
          </a:xfrm>
          <a:prstGeom prst="rect">
            <a:avLst/>
          </a:prstGeom>
          <a:solidFill>
            <a:srgbClr val="0D7680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1C81966B-FC7F-A9CC-2BED-B279D2D505EB}"/>
              </a:ext>
            </a:extLst>
          </p:cNvPr>
          <p:cNvSpPr/>
          <p:nvPr/>
        </p:nvSpPr>
        <p:spPr>
          <a:xfrm>
            <a:off x="8528304" y="3952820"/>
            <a:ext cx="1920240" cy="65836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4.1×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ECFD0853-7E63-C9B4-BF90-2D89D707B13E}"/>
              </a:ext>
            </a:extLst>
          </p:cNvPr>
          <p:cNvSpPr/>
          <p:nvPr/>
        </p:nvSpPr>
        <p:spPr>
          <a:xfrm>
            <a:off x="8528304" y="4592900"/>
            <a:ext cx="1920240" cy="3840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Decile Lift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56050E-63C4-585F-C1C3-5DAC6AFC863D}"/>
              </a:ext>
            </a:extLst>
          </p:cNvPr>
          <p:cNvSpPr txBox="1"/>
          <p:nvPr/>
        </p:nvSpPr>
        <p:spPr>
          <a:xfrm>
            <a:off x="5340024" y="5251268"/>
            <a:ext cx="165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Mayur Mishra</a:t>
            </a:r>
          </a:p>
        </p:txBody>
      </p:sp>
    </p:spTree>
    <p:extLst>
      <p:ext uri="{BB962C8B-B14F-4D97-AF65-F5344CB8AC3E}">
        <p14:creationId xmlns:p14="http://schemas.microsoft.com/office/powerpoint/2010/main" val="99517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CB23-CF9D-28AF-C556-C993FF1F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0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Analytical Approach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26C8AE5-AC01-BE0E-5DCC-16EE5F36E18B}"/>
              </a:ext>
            </a:extLst>
          </p:cNvPr>
          <p:cNvGrpSpPr/>
          <p:nvPr/>
        </p:nvGrpSpPr>
        <p:grpSpPr>
          <a:xfrm>
            <a:off x="740229" y="1436912"/>
            <a:ext cx="10613571" cy="4887685"/>
            <a:chOff x="320040" y="804672"/>
            <a:chExt cx="8531352" cy="3685032"/>
          </a:xfrm>
        </p:grpSpPr>
        <p:sp>
          <p:nvSpPr>
            <p:cNvPr id="5" name="Shape 5">
              <a:extLst>
                <a:ext uri="{FF2B5EF4-FFF2-40B4-BE49-F238E27FC236}">
                  <a16:creationId xmlns:a16="http://schemas.microsoft.com/office/drawing/2014/main" id="{D7E6E7C2-52BA-71AA-A919-BDB77DA38B06}"/>
                </a:ext>
              </a:extLst>
            </p:cNvPr>
            <p:cNvSpPr/>
            <p:nvPr/>
          </p:nvSpPr>
          <p:spPr>
            <a:xfrm>
              <a:off x="320040" y="804672"/>
              <a:ext cx="4023360" cy="347472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6" name="Text 6">
              <a:extLst>
                <a:ext uri="{FF2B5EF4-FFF2-40B4-BE49-F238E27FC236}">
                  <a16:creationId xmlns:a16="http://schemas.microsoft.com/office/drawing/2014/main" id="{AA5650FC-0DE9-C44B-C1D3-AF04CEAF853E}"/>
                </a:ext>
              </a:extLst>
            </p:cNvPr>
            <p:cNvSpPr/>
            <p:nvPr/>
          </p:nvSpPr>
          <p:spPr>
            <a:xfrm>
              <a:off x="320040" y="804672"/>
              <a:ext cx="4023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BUSINESS CHALLENGE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C0E1A817-4C94-8366-762A-DD6D1866C90F}"/>
                </a:ext>
              </a:extLst>
            </p:cNvPr>
            <p:cNvSpPr/>
            <p:nvPr/>
          </p:nvSpPr>
          <p:spPr>
            <a:xfrm>
              <a:off x="457200" y="1261872"/>
              <a:ext cx="3749040" cy="3108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2000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Patients appear stable, then suddenly stop therapy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2000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Common drop-off causes: denied PA claims, high out-of-pocket costs, missed follow-up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2000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Field support has limited capacity, reactive outreach is too late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2000" b="1" dirty="0">
                  <a:solidFill>
                    <a:srgbClr val="0D768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701 of 3000 patients discontinued within 60 days (23.4% rate)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3158C538-0E66-D48D-0576-D349B2015E83}"/>
                </a:ext>
              </a:extLst>
            </p:cNvPr>
            <p:cNvSpPr/>
            <p:nvPr/>
          </p:nvSpPr>
          <p:spPr>
            <a:xfrm>
              <a:off x="4553712" y="804672"/>
              <a:ext cx="4297680" cy="347472"/>
            </a:xfrm>
            <a:prstGeom prst="rect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10" name="Text 10">
              <a:extLst>
                <a:ext uri="{FF2B5EF4-FFF2-40B4-BE49-F238E27FC236}">
                  <a16:creationId xmlns:a16="http://schemas.microsoft.com/office/drawing/2014/main" id="{449B905B-2533-D494-8ADA-D803389F982D}"/>
                </a:ext>
              </a:extLst>
            </p:cNvPr>
            <p:cNvSpPr/>
            <p:nvPr/>
          </p:nvSpPr>
          <p:spPr>
            <a:xfrm>
              <a:off x="4553712" y="804672"/>
              <a:ext cx="4297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ANALYTICAL APPROACH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854CF73E-AA94-A527-368F-7B6DE54DBBD0}"/>
                </a:ext>
              </a:extLst>
            </p:cNvPr>
            <p:cNvSpPr/>
            <p:nvPr/>
          </p:nvSpPr>
          <p:spPr>
            <a:xfrm>
              <a:off x="4663440" y="1280160"/>
              <a:ext cx="310896" cy="310896"/>
            </a:xfrm>
            <a:prstGeom prst="ellipse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12" name="Text 12">
              <a:extLst>
                <a:ext uri="{FF2B5EF4-FFF2-40B4-BE49-F238E27FC236}">
                  <a16:creationId xmlns:a16="http://schemas.microsoft.com/office/drawing/2014/main" id="{A452913A-911C-4B08-3E5E-9F32BFE4B11B}"/>
                </a:ext>
              </a:extLst>
            </p:cNvPr>
            <p:cNvSpPr/>
            <p:nvPr/>
          </p:nvSpPr>
          <p:spPr>
            <a:xfrm>
              <a:off x="4663440" y="1280160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14836D6D-7CF0-6EA1-BBFD-111EFB8443F9}"/>
                </a:ext>
              </a:extLst>
            </p:cNvPr>
            <p:cNvSpPr/>
            <p:nvPr/>
          </p:nvSpPr>
          <p:spPr>
            <a:xfrm>
              <a:off x="5074920" y="1261872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EDA &amp; Cleaning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4">
              <a:extLst>
                <a:ext uri="{FF2B5EF4-FFF2-40B4-BE49-F238E27FC236}">
                  <a16:creationId xmlns:a16="http://schemas.microsoft.com/office/drawing/2014/main" id="{13130E36-B69D-78E8-3E12-5B478CDF2D03}"/>
                </a:ext>
              </a:extLst>
            </p:cNvPr>
            <p:cNvSpPr/>
            <p:nvPr/>
          </p:nvSpPr>
          <p:spPr>
            <a:xfrm>
              <a:off x="5074920" y="1490472"/>
              <a:ext cx="35661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Distributions, missingness, time-based patterns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Shape 15">
              <a:extLst>
                <a:ext uri="{FF2B5EF4-FFF2-40B4-BE49-F238E27FC236}">
                  <a16:creationId xmlns:a16="http://schemas.microsoft.com/office/drawing/2014/main" id="{194C5C3D-69B7-139F-171F-1F53E7B3FD51}"/>
                </a:ext>
              </a:extLst>
            </p:cNvPr>
            <p:cNvSpPr/>
            <p:nvPr/>
          </p:nvSpPr>
          <p:spPr>
            <a:xfrm>
              <a:off x="4663440" y="1975104"/>
              <a:ext cx="310896" cy="310896"/>
            </a:xfrm>
            <a:prstGeom prst="ellipse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16" name="Text 16">
              <a:extLst>
                <a:ext uri="{FF2B5EF4-FFF2-40B4-BE49-F238E27FC236}">
                  <a16:creationId xmlns:a16="http://schemas.microsoft.com/office/drawing/2014/main" id="{A91777C7-B785-31AD-6134-3A5075651121}"/>
                </a:ext>
              </a:extLst>
            </p:cNvPr>
            <p:cNvSpPr/>
            <p:nvPr/>
          </p:nvSpPr>
          <p:spPr>
            <a:xfrm>
              <a:off x="4663440" y="1975104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17">
              <a:extLst>
                <a:ext uri="{FF2B5EF4-FFF2-40B4-BE49-F238E27FC236}">
                  <a16:creationId xmlns:a16="http://schemas.microsoft.com/office/drawing/2014/main" id="{BF38E9C6-3F3B-A6F0-B2E5-1D0E42C2CB11}"/>
                </a:ext>
              </a:extLst>
            </p:cNvPr>
            <p:cNvSpPr/>
            <p:nvPr/>
          </p:nvSpPr>
          <p:spPr>
            <a:xfrm>
              <a:off x="5074920" y="1956816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Feature Engineering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8">
              <a:extLst>
                <a:ext uri="{FF2B5EF4-FFF2-40B4-BE49-F238E27FC236}">
                  <a16:creationId xmlns:a16="http://schemas.microsoft.com/office/drawing/2014/main" id="{8E8A4B3C-E919-E1D2-26FC-AC5117887359}"/>
                </a:ext>
              </a:extLst>
            </p:cNvPr>
            <p:cNvSpPr/>
            <p:nvPr/>
          </p:nvSpPr>
          <p:spPr>
            <a:xfrm>
              <a:off x="5074920" y="2185416"/>
              <a:ext cx="35661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37 point-in-time signals across 6 feature groups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Shape 19">
              <a:extLst>
                <a:ext uri="{FF2B5EF4-FFF2-40B4-BE49-F238E27FC236}">
                  <a16:creationId xmlns:a16="http://schemas.microsoft.com/office/drawing/2014/main" id="{6A605D51-BE41-39F3-6F8B-F1EA8F3FC80B}"/>
                </a:ext>
              </a:extLst>
            </p:cNvPr>
            <p:cNvSpPr/>
            <p:nvPr/>
          </p:nvSpPr>
          <p:spPr>
            <a:xfrm>
              <a:off x="4663440" y="2670048"/>
              <a:ext cx="310896" cy="310896"/>
            </a:xfrm>
            <a:prstGeom prst="ellipse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20" name="Text 20">
              <a:extLst>
                <a:ext uri="{FF2B5EF4-FFF2-40B4-BE49-F238E27FC236}">
                  <a16:creationId xmlns:a16="http://schemas.microsoft.com/office/drawing/2014/main" id="{B4AF095A-1D82-52FB-704D-6430068BE7C6}"/>
                </a:ext>
              </a:extLst>
            </p:cNvPr>
            <p:cNvSpPr/>
            <p:nvPr/>
          </p:nvSpPr>
          <p:spPr>
            <a:xfrm>
              <a:off x="4663440" y="2670048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21">
              <a:extLst>
                <a:ext uri="{FF2B5EF4-FFF2-40B4-BE49-F238E27FC236}">
                  <a16:creationId xmlns:a16="http://schemas.microsoft.com/office/drawing/2014/main" id="{44323B77-6786-4545-B939-39F5C34F408D}"/>
                </a:ext>
              </a:extLst>
            </p:cNvPr>
            <p:cNvSpPr/>
            <p:nvPr/>
          </p:nvSpPr>
          <p:spPr>
            <a:xfrm>
              <a:off x="5074920" y="2651760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Modeling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22">
              <a:extLst>
                <a:ext uri="{FF2B5EF4-FFF2-40B4-BE49-F238E27FC236}">
                  <a16:creationId xmlns:a16="http://schemas.microsoft.com/office/drawing/2014/main" id="{1BAAFE9D-F1F3-CCED-095A-25F8BE90AF15}"/>
                </a:ext>
              </a:extLst>
            </p:cNvPr>
            <p:cNvSpPr/>
            <p:nvPr/>
          </p:nvSpPr>
          <p:spPr>
            <a:xfrm>
              <a:off x="5074920" y="2880360"/>
              <a:ext cx="35661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Logistic Regression baseline + Gradient Boosting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Shape 23">
              <a:extLst>
                <a:ext uri="{FF2B5EF4-FFF2-40B4-BE49-F238E27FC236}">
                  <a16:creationId xmlns:a16="http://schemas.microsoft.com/office/drawing/2014/main" id="{248B7D48-F928-9B99-7391-39628D28F2FC}"/>
                </a:ext>
              </a:extLst>
            </p:cNvPr>
            <p:cNvSpPr/>
            <p:nvPr/>
          </p:nvSpPr>
          <p:spPr>
            <a:xfrm>
              <a:off x="4663440" y="3364992"/>
              <a:ext cx="310896" cy="310896"/>
            </a:xfrm>
            <a:prstGeom prst="ellipse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24" name="Text 24">
              <a:extLst>
                <a:ext uri="{FF2B5EF4-FFF2-40B4-BE49-F238E27FC236}">
                  <a16:creationId xmlns:a16="http://schemas.microsoft.com/office/drawing/2014/main" id="{56E9A216-23D3-4097-E850-57E1C6F9E975}"/>
                </a:ext>
              </a:extLst>
            </p:cNvPr>
            <p:cNvSpPr/>
            <p:nvPr/>
          </p:nvSpPr>
          <p:spPr>
            <a:xfrm>
              <a:off x="4663440" y="3364992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5">
              <a:extLst>
                <a:ext uri="{FF2B5EF4-FFF2-40B4-BE49-F238E27FC236}">
                  <a16:creationId xmlns:a16="http://schemas.microsoft.com/office/drawing/2014/main" id="{0A13EE2F-59CE-7AA2-FC98-F540F7490D6C}"/>
                </a:ext>
              </a:extLst>
            </p:cNvPr>
            <p:cNvSpPr/>
            <p:nvPr/>
          </p:nvSpPr>
          <p:spPr>
            <a:xfrm>
              <a:off x="5074920" y="3346704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Evaluation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26">
              <a:extLst>
                <a:ext uri="{FF2B5EF4-FFF2-40B4-BE49-F238E27FC236}">
                  <a16:creationId xmlns:a16="http://schemas.microsoft.com/office/drawing/2014/main" id="{89FACE41-F53E-2318-E476-D3703C8342FB}"/>
                </a:ext>
              </a:extLst>
            </p:cNvPr>
            <p:cNvSpPr/>
            <p:nvPr/>
          </p:nvSpPr>
          <p:spPr>
            <a:xfrm>
              <a:off x="5074920" y="3575304"/>
              <a:ext cx="35661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5-fold cross-validation, ROC-AUC, lift curves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Shape 27">
              <a:extLst>
                <a:ext uri="{FF2B5EF4-FFF2-40B4-BE49-F238E27FC236}">
                  <a16:creationId xmlns:a16="http://schemas.microsoft.com/office/drawing/2014/main" id="{69FDED18-9E4C-8413-252B-A11057CF3E99}"/>
                </a:ext>
              </a:extLst>
            </p:cNvPr>
            <p:cNvSpPr/>
            <p:nvPr/>
          </p:nvSpPr>
          <p:spPr>
            <a:xfrm>
              <a:off x="4663440" y="4059936"/>
              <a:ext cx="310896" cy="310896"/>
            </a:xfrm>
            <a:prstGeom prst="ellipse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28" name="Text 28">
              <a:extLst>
                <a:ext uri="{FF2B5EF4-FFF2-40B4-BE49-F238E27FC236}">
                  <a16:creationId xmlns:a16="http://schemas.microsoft.com/office/drawing/2014/main" id="{21CC38DD-FB85-10DD-8206-A60A62CD15B4}"/>
                </a:ext>
              </a:extLst>
            </p:cNvPr>
            <p:cNvSpPr/>
            <p:nvPr/>
          </p:nvSpPr>
          <p:spPr>
            <a:xfrm>
              <a:off x="4663440" y="4059936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29">
              <a:extLst>
                <a:ext uri="{FF2B5EF4-FFF2-40B4-BE49-F238E27FC236}">
                  <a16:creationId xmlns:a16="http://schemas.microsoft.com/office/drawing/2014/main" id="{D1C7461C-E320-961F-DB23-05C284AD8005}"/>
                </a:ext>
              </a:extLst>
            </p:cNvPr>
            <p:cNvSpPr/>
            <p:nvPr/>
          </p:nvSpPr>
          <p:spPr>
            <a:xfrm>
              <a:off x="5074920" y="4041648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Business Actions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30">
              <a:extLst>
                <a:ext uri="{FF2B5EF4-FFF2-40B4-BE49-F238E27FC236}">
                  <a16:creationId xmlns:a16="http://schemas.microsoft.com/office/drawing/2014/main" id="{92DBB44F-438D-8171-FD58-F824F4171D3F}"/>
                </a:ext>
              </a:extLst>
            </p:cNvPr>
            <p:cNvSpPr/>
            <p:nvPr/>
          </p:nvSpPr>
          <p:spPr>
            <a:xfrm>
              <a:off x="5074920" y="4270248"/>
              <a:ext cx="35661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Risk-tiered outreach list with action flags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 31">
            <a:extLst>
              <a:ext uri="{FF2B5EF4-FFF2-40B4-BE49-F238E27FC236}">
                <a16:creationId xmlns:a16="http://schemas.microsoft.com/office/drawing/2014/main" id="{A7D0DC25-D0A2-3116-5AD6-BCC61ED70B53}"/>
              </a:ext>
            </a:extLst>
          </p:cNvPr>
          <p:cNvSpPr/>
          <p:nvPr/>
        </p:nvSpPr>
        <p:spPr>
          <a:xfrm>
            <a:off x="1231521" y="6555033"/>
            <a:ext cx="9078088" cy="86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data sources: events_status_shipments · hcps_master · payers_master  |  44,601 events → 3,000 patient anchor rows</a:t>
            </a:r>
          </a:p>
        </p:txBody>
      </p:sp>
    </p:spTree>
    <p:extLst>
      <p:ext uri="{BB962C8B-B14F-4D97-AF65-F5344CB8AC3E}">
        <p14:creationId xmlns:p14="http://schemas.microsoft.com/office/powerpoint/2010/main" val="53523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2270-BBC5-C170-BA64-22E0D9CE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65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DB46199-2123-F2F9-03B2-C16A61696294}"/>
              </a:ext>
            </a:extLst>
          </p:cNvPr>
          <p:cNvGrpSpPr/>
          <p:nvPr/>
        </p:nvGrpSpPr>
        <p:grpSpPr>
          <a:xfrm>
            <a:off x="1163255" y="1562671"/>
            <a:ext cx="9045615" cy="1469201"/>
            <a:chOff x="457200" y="822960"/>
            <a:chExt cx="8266176" cy="1060704"/>
          </a:xfrm>
        </p:grpSpPr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929467C2-84EF-E1CE-0165-6E031A56A63E}"/>
                </a:ext>
              </a:extLst>
            </p:cNvPr>
            <p:cNvSpPr/>
            <p:nvPr/>
          </p:nvSpPr>
          <p:spPr>
            <a:xfrm>
              <a:off x="457200" y="822960"/>
              <a:ext cx="17373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D768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0.969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E8FCBD04-0A6F-F1EA-27F7-02FEC80390FB}"/>
                </a:ext>
              </a:extLst>
            </p:cNvPr>
            <p:cNvSpPr/>
            <p:nvPr/>
          </p:nvSpPr>
          <p:spPr>
            <a:xfrm>
              <a:off x="457200" y="144475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GBM ROC-AUC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5571A1DE-755B-4AC5-FEF6-2A328F3F7840}"/>
                </a:ext>
              </a:extLst>
            </p:cNvPr>
            <p:cNvSpPr/>
            <p:nvPr/>
          </p:nvSpPr>
          <p:spPr>
            <a:xfrm>
              <a:off x="457200" y="1682496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5-fold out-of-fold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9641D3A5-A939-C538-BEC0-15FF2F005F73}"/>
                </a:ext>
              </a:extLst>
            </p:cNvPr>
            <p:cNvSpPr/>
            <p:nvPr/>
          </p:nvSpPr>
          <p:spPr>
            <a:xfrm>
              <a:off x="2633472" y="822960"/>
              <a:ext cx="17373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D768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0.899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CF416518-9455-E744-DB76-C16AB9EE11A5}"/>
                </a:ext>
              </a:extLst>
            </p:cNvPr>
            <p:cNvSpPr/>
            <p:nvPr/>
          </p:nvSpPr>
          <p:spPr>
            <a:xfrm>
              <a:off x="2633472" y="144475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PR-AUC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497898E0-30F5-24DA-0AF0-D5D1E34A8E3E}"/>
                </a:ext>
              </a:extLst>
            </p:cNvPr>
            <p:cNvSpPr/>
            <p:nvPr/>
          </p:nvSpPr>
          <p:spPr>
            <a:xfrm>
              <a:off x="2633472" y="1682496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Precision-Recall AUC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349FE67C-2F92-156D-0857-DC58A9D0AB41}"/>
                </a:ext>
              </a:extLst>
            </p:cNvPr>
            <p:cNvSpPr/>
            <p:nvPr/>
          </p:nvSpPr>
          <p:spPr>
            <a:xfrm>
              <a:off x="4809744" y="822960"/>
              <a:ext cx="17373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E8913A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4.1×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21FAF1DD-8063-6A52-ECF9-F7920961297A}"/>
                </a:ext>
              </a:extLst>
            </p:cNvPr>
            <p:cNvSpPr/>
            <p:nvPr/>
          </p:nvSpPr>
          <p:spPr>
            <a:xfrm>
              <a:off x="4809744" y="144475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Top-Decile Lift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EE773BB2-ACA0-95D7-FBB1-08701FE32FA5}"/>
                </a:ext>
              </a:extLst>
            </p:cNvPr>
            <p:cNvSpPr/>
            <p:nvPr/>
          </p:nvSpPr>
          <p:spPr>
            <a:xfrm>
              <a:off x="4809744" y="1682496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95.7% disc. in D1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8C0CF102-77EE-544D-D293-2E8380FDE463}"/>
                </a:ext>
              </a:extLst>
            </p:cNvPr>
            <p:cNvSpPr/>
            <p:nvPr/>
          </p:nvSpPr>
          <p:spPr>
            <a:xfrm>
              <a:off x="6986016" y="822960"/>
              <a:ext cx="17373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64748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0.961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18EB4DEA-1582-8D5C-13D1-2FF55BFB993E}"/>
                </a:ext>
              </a:extLst>
            </p:cNvPr>
            <p:cNvSpPr/>
            <p:nvPr/>
          </p:nvSpPr>
          <p:spPr>
            <a:xfrm>
              <a:off x="6986016" y="144475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LR Baseline AUC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427774A4-32CA-3C35-612A-025BA78E7C72}"/>
                </a:ext>
              </a:extLst>
            </p:cNvPr>
            <p:cNvSpPr/>
            <p:nvPr/>
          </p:nvSpPr>
          <p:spPr>
            <a:xfrm>
              <a:off x="6986016" y="1682496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Logistic Regression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3CF4B5-1579-8B1A-0D58-1E00B00E4724}"/>
              </a:ext>
            </a:extLst>
          </p:cNvPr>
          <p:cNvGrpSpPr/>
          <p:nvPr/>
        </p:nvGrpSpPr>
        <p:grpSpPr>
          <a:xfrm>
            <a:off x="1163255" y="3220097"/>
            <a:ext cx="9217499" cy="3180703"/>
            <a:chOff x="1558531" y="3335844"/>
            <a:chExt cx="8503920" cy="2633472"/>
          </a:xfrm>
        </p:grpSpPr>
        <p:sp>
          <p:nvSpPr>
            <p:cNvPr id="33" name="Shape 24">
              <a:extLst>
                <a:ext uri="{FF2B5EF4-FFF2-40B4-BE49-F238E27FC236}">
                  <a16:creationId xmlns:a16="http://schemas.microsoft.com/office/drawing/2014/main" id="{87183EA6-57A2-B439-D6E3-A3F300EFA9D5}"/>
                </a:ext>
              </a:extLst>
            </p:cNvPr>
            <p:cNvSpPr/>
            <p:nvPr/>
          </p:nvSpPr>
          <p:spPr>
            <a:xfrm>
              <a:off x="1558531" y="3335844"/>
              <a:ext cx="8503920" cy="26334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92E6BB14-5378-97E6-B49C-2331BE995ACB}"/>
                </a:ext>
              </a:extLst>
            </p:cNvPr>
            <p:cNvSpPr/>
            <p:nvPr/>
          </p:nvSpPr>
          <p:spPr>
            <a:xfrm>
              <a:off x="1695691" y="3399852"/>
              <a:ext cx="8229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Discontinuation Rate by Score Decile  (D1 = highest predicted risk)</a:t>
              </a:r>
              <a:endParaRPr lang="en-US" sz="1000" dirty="0"/>
            </a:p>
          </p:txBody>
        </p:sp>
        <p:graphicFrame>
          <p:nvGraphicFramePr>
            <p:cNvPr id="35" name="Chart 0">
              <a:extLst>
                <a:ext uri="{FF2B5EF4-FFF2-40B4-BE49-F238E27FC236}">
                  <a16:creationId xmlns:a16="http://schemas.microsoft.com/office/drawing/2014/main" id="{0E36AB2D-6C98-6036-8692-959842749F1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57643681"/>
                </p:ext>
              </p:extLst>
            </p:nvPr>
          </p:nvGraphicFramePr>
          <p:xfrm>
            <a:off x="1695691" y="3674172"/>
            <a:ext cx="8229600" cy="21031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6" name="Shape 26">
              <a:extLst>
                <a:ext uri="{FF2B5EF4-FFF2-40B4-BE49-F238E27FC236}">
                  <a16:creationId xmlns:a16="http://schemas.microsoft.com/office/drawing/2014/main" id="{2FDCCDE9-214F-42FF-928E-624233303842}"/>
                </a:ext>
              </a:extLst>
            </p:cNvPr>
            <p:cNvSpPr/>
            <p:nvPr/>
          </p:nvSpPr>
          <p:spPr>
            <a:xfrm>
              <a:off x="1970011" y="4423980"/>
              <a:ext cx="7772400" cy="0"/>
            </a:xfrm>
            <a:prstGeom prst="line">
              <a:avLst/>
            </a:prstGeom>
            <a:noFill/>
            <a:ln w="19050">
              <a:solidFill>
                <a:srgbClr val="E8913A"/>
              </a:solidFill>
              <a:prstDash val="dash"/>
            </a:ln>
          </p:spPr>
        </p:sp>
        <p:sp>
          <p:nvSpPr>
            <p:cNvPr id="37" name="Text 27">
              <a:extLst>
                <a:ext uri="{FF2B5EF4-FFF2-40B4-BE49-F238E27FC236}">
                  <a16:creationId xmlns:a16="http://schemas.microsoft.com/office/drawing/2014/main" id="{F1B0BAB0-6327-38CF-E271-BE79FA79FC9C}"/>
                </a:ext>
              </a:extLst>
            </p:cNvPr>
            <p:cNvSpPr/>
            <p:nvPr/>
          </p:nvSpPr>
          <p:spPr>
            <a:xfrm>
              <a:off x="9239491" y="4250244"/>
              <a:ext cx="777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E8913A"/>
                  </a:solidFill>
                </a:rPr>
                <a:t>Avg 23.4%</a:t>
              </a:r>
              <a:endParaRPr lang="en-US" sz="800" dirty="0"/>
            </a:p>
          </p:txBody>
        </p:sp>
      </p:grpSp>
      <p:sp>
        <p:nvSpPr>
          <p:cNvPr id="39" name="Text 31">
            <a:extLst>
              <a:ext uri="{FF2B5EF4-FFF2-40B4-BE49-F238E27FC236}">
                <a16:creationId xmlns:a16="http://schemas.microsoft.com/office/drawing/2014/main" id="{12B29741-289D-B6F4-F1AE-553F16AF1A14}"/>
              </a:ext>
            </a:extLst>
          </p:cNvPr>
          <p:cNvSpPr/>
          <p:nvPr/>
        </p:nvSpPr>
        <p:spPr>
          <a:xfrm>
            <a:off x="1231521" y="6555033"/>
            <a:ext cx="9078088" cy="86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3 deciles capture 47-96% disc. rate vs 23.4% average, strong separation for outreach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381077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51F6-5029-C845-FDE2-6BDA0D85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Discontinuation Drivers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E12BCA-1208-649B-9A36-4CEDC62F81F1}"/>
              </a:ext>
            </a:extLst>
          </p:cNvPr>
          <p:cNvGrpSpPr/>
          <p:nvPr/>
        </p:nvGrpSpPr>
        <p:grpSpPr>
          <a:xfrm>
            <a:off x="6096000" y="1225052"/>
            <a:ext cx="5315447" cy="5206117"/>
            <a:chOff x="4663440" y="777240"/>
            <a:chExt cx="4160520" cy="3785616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9917D600-D0A6-625D-FF09-C0960559C197}"/>
                </a:ext>
              </a:extLst>
            </p:cNvPr>
            <p:cNvSpPr/>
            <p:nvPr/>
          </p:nvSpPr>
          <p:spPr>
            <a:xfrm>
              <a:off x="4663440" y="777240"/>
              <a:ext cx="4160520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3CB0E742-5EE0-C281-9CEE-2775C3D2C4D0}"/>
                </a:ext>
              </a:extLst>
            </p:cNvPr>
            <p:cNvSpPr/>
            <p:nvPr/>
          </p:nvSpPr>
          <p:spPr>
            <a:xfrm>
              <a:off x="4773168" y="850392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20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Refill Cadence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2ED02532-2AF1-91F6-4C63-71F7396C8CBA}"/>
                </a:ext>
              </a:extLst>
            </p:cNvPr>
            <p:cNvSpPr/>
            <p:nvPr/>
          </p:nvSpPr>
          <p:spPr>
            <a:xfrm>
              <a:off x="4773168" y="1124712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Max &amp; variable refill gap is the #1 predictor. Patients who fall off schedule are ~4× more likely to discontinue.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4FC84EBC-28CE-E939-C15F-6E6DB91581C2}"/>
                </a:ext>
              </a:extLst>
            </p:cNvPr>
            <p:cNvSpPr/>
            <p:nvPr/>
          </p:nvSpPr>
          <p:spPr>
            <a:xfrm>
              <a:off x="4663440" y="1746504"/>
              <a:ext cx="4160520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D50B59B6-A5D4-1356-3D08-1376F00DB167}"/>
                </a:ext>
              </a:extLst>
            </p:cNvPr>
            <p:cNvSpPr/>
            <p:nvPr/>
          </p:nvSpPr>
          <p:spPr>
            <a:xfrm>
              <a:off x="4773168" y="1819656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20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Support Call Volume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5C04E32A-4C1D-2323-42B8-608A500E3063}"/>
                </a:ext>
              </a:extLst>
            </p:cNvPr>
            <p:cNvSpPr/>
            <p:nvPr/>
          </p:nvSpPr>
          <p:spPr>
            <a:xfrm>
              <a:off x="4773168" y="2093976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High call counts signal patients in distress. These patients need proactive intervention, not just reactive response.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992FB74C-97DE-202A-2B69-BF4170900A03}"/>
                </a:ext>
              </a:extLst>
            </p:cNvPr>
            <p:cNvSpPr/>
            <p:nvPr/>
          </p:nvSpPr>
          <p:spPr>
            <a:xfrm>
              <a:off x="4663440" y="2715768"/>
              <a:ext cx="4160520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D5343306-AFF6-9DB8-15D6-8DE6BB4D89DE}"/>
                </a:ext>
              </a:extLst>
            </p:cNvPr>
            <p:cNvSpPr/>
            <p:nvPr/>
          </p:nvSpPr>
          <p:spPr>
            <a:xfrm>
              <a:off x="4663440" y="2715768"/>
              <a:ext cx="54864" cy="877824"/>
            </a:xfrm>
            <a:prstGeom prst="rect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 16">
              <a:extLst>
                <a:ext uri="{FF2B5EF4-FFF2-40B4-BE49-F238E27FC236}">
                  <a16:creationId xmlns:a16="http://schemas.microsoft.com/office/drawing/2014/main" id="{532AC37F-93BB-92F3-6139-19119286A47A}"/>
                </a:ext>
              </a:extLst>
            </p:cNvPr>
            <p:cNvSpPr/>
            <p:nvPr/>
          </p:nvSpPr>
          <p:spPr>
            <a:xfrm>
              <a:off x="4773168" y="278892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20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Fill Number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7">
              <a:extLst>
                <a:ext uri="{FF2B5EF4-FFF2-40B4-BE49-F238E27FC236}">
                  <a16:creationId xmlns:a16="http://schemas.microsoft.com/office/drawing/2014/main" id="{DCBD0B5A-534A-ED1E-5F1D-DECD3B91A691}"/>
                </a:ext>
              </a:extLst>
            </p:cNvPr>
            <p:cNvSpPr/>
            <p:nvPr/>
          </p:nvSpPr>
          <p:spPr>
            <a:xfrm>
              <a:off x="4773168" y="3063240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Early-therapy patients (Fill 1–2) face the highest cliff. Reaching Fill 5+ dramatically lowers risk.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13401328-6E67-4321-328A-167513D40E12}"/>
                </a:ext>
              </a:extLst>
            </p:cNvPr>
            <p:cNvSpPr/>
            <p:nvPr/>
          </p:nvSpPr>
          <p:spPr>
            <a:xfrm>
              <a:off x="4663440" y="3685032"/>
              <a:ext cx="4160520" cy="8778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16AFBAE9-6C5B-C801-E197-B6302CF8C271}"/>
                </a:ext>
              </a:extLst>
            </p:cNvPr>
            <p:cNvSpPr/>
            <p:nvPr/>
          </p:nvSpPr>
          <p:spPr>
            <a:xfrm>
              <a:off x="4773168" y="375818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20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Site Disc. History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21">
              <a:extLst>
                <a:ext uri="{FF2B5EF4-FFF2-40B4-BE49-F238E27FC236}">
                  <a16:creationId xmlns:a16="http://schemas.microsoft.com/office/drawing/2014/main" id="{F29D6CDA-FA5F-7FC6-7F1B-47736AD47A4E}"/>
                </a:ext>
              </a:extLst>
            </p:cNvPr>
            <p:cNvSpPr/>
            <p:nvPr/>
          </p:nvSpPr>
          <p:spPr>
            <a:xfrm>
              <a:off x="4773168" y="4032504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Sites with high historical rates propagate risk to patients. Site-level engagement is a key program lever.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Shape 15">
            <a:extLst>
              <a:ext uri="{FF2B5EF4-FFF2-40B4-BE49-F238E27FC236}">
                <a16:creationId xmlns:a16="http://schemas.microsoft.com/office/drawing/2014/main" id="{2D320F9A-61CC-86FF-6320-2AF7D74DA146}"/>
              </a:ext>
            </a:extLst>
          </p:cNvPr>
          <p:cNvSpPr/>
          <p:nvPr/>
        </p:nvSpPr>
        <p:spPr>
          <a:xfrm>
            <a:off x="6096000" y="2550615"/>
            <a:ext cx="70094" cy="120721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15359B9D-82D4-BBA4-79A2-66FDA7BDD19B}"/>
              </a:ext>
            </a:extLst>
          </p:cNvPr>
          <p:cNvSpPr/>
          <p:nvPr/>
        </p:nvSpPr>
        <p:spPr>
          <a:xfrm>
            <a:off x="6084318" y="1225052"/>
            <a:ext cx="70094" cy="120721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616C8811-87ED-CBE0-4103-4BDC22FFA4CB}"/>
              </a:ext>
            </a:extLst>
          </p:cNvPr>
          <p:cNvSpPr/>
          <p:nvPr/>
        </p:nvSpPr>
        <p:spPr>
          <a:xfrm>
            <a:off x="6096000" y="5223953"/>
            <a:ext cx="70094" cy="120721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AF7E95-088D-144B-8923-52A97532C409}"/>
              </a:ext>
            </a:extLst>
          </p:cNvPr>
          <p:cNvGrpSpPr/>
          <p:nvPr/>
        </p:nvGrpSpPr>
        <p:grpSpPr>
          <a:xfrm>
            <a:off x="804632" y="1514280"/>
            <a:ext cx="4996427" cy="4572207"/>
            <a:chOff x="320040" y="841248"/>
            <a:chExt cx="4160520" cy="3657600"/>
          </a:xfrm>
        </p:grpSpPr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BF00F825-911C-7DA5-C008-5E76B87D8FC0}"/>
                </a:ext>
              </a:extLst>
            </p:cNvPr>
            <p:cNvSpPr/>
            <p:nvPr/>
          </p:nvSpPr>
          <p:spPr>
            <a:xfrm>
              <a:off x="411480" y="841248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Permutation Importance (ROC-AUC drop when feature permuted)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Chart 0">
              <a:extLst>
                <a:ext uri="{FF2B5EF4-FFF2-40B4-BE49-F238E27FC236}">
                  <a16:creationId xmlns:a16="http://schemas.microsoft.com/office/drawing/2014/main" id="{01108EB9-C5FD-8703-3D82-0EE595B2291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54000459"/>
                </p:ext>
              </p:extLst>
            </p:nvPr>
          </p:nvGraphicFramePr>
          <p:xfrm>
            <a:off x="320040" y="1115568"/>
            <a:ext cx="4160520" cy="3383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28" name="Text 31">
            <a:extLst>
              <a:ext uri="{FF2B5EF4-FFF2-40B4-BE49-F238E27FC236}">
                <a16:creationId xmlns:a16="http://schemas.microsoft.com/office/drawing/2014/main" id="{D7D395E8-90E0-DD1B-661C-B2A622ACCC69}"/>
              </a:ext>
            </a:extLst>
          </p:cNvPr>
          <p:cNvSpPr/>
          <p:nvPr/>
        </p:nvSpPr>
        <p:spPr>
          <a:xfrm>
            <a:off x="1231521" y="6555033"/>
            <a:ext cx="9078088" cy="86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permutation importance across 5-fold cross-validation on held-out patients. GBM ROC-AUC = 0.969.</a:t>
            </a:r>
          </a:p>
        </p:txBody>
      </p:sp>
    </p:spTree>
    <p:extLst>
      <p:ext uri="{BB962C8B-B14F-4D97-AF65-F5344CB8AC3E}">
        <p14:creationId xmlns:p14="http://schemas.microsoft.com/office/powerpoint/2010/main" val="3701272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993A-5F82-33AF-D694-C3A951639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Actions &amp; Recommended Outreach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B737DF-BCE8-CED3-6FFF-B8F863912A4D}"/>
              </a:ext>
            </a:extLst>
          </p:cNvPr>
          <p:cNvGrpSpPr/>
          <p:nvPr/>
        </p:nvGrpSpPr>
        <p:grpSpPr>
          <a:xfrm>
            <a:off x="1203960" y="1314450"/>
            <a:ext cx="9555480" cy="2023110"/>
            <a:chOff x="320040" y="777240"/>
            <a:chExt cx="8595360" cy="1389888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FB41C796-D0C3-A79F-FC34-07AAEF773C59}"/>
                </a:ext>
              </a:extLst>
            </p:cNvPr>
            <p:cNvSpPr/>
            <p:nvPr/>
          </p:nvSpPr>
          <p:spPr>
            <a:xfrm>
              <a:off x="320040" y="777240"/>
              <a:ext cx="2743200" cy="1389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5">
              <a:extLst>
                <a:ext uri="{FF2B5EF4-FFF2-40B4-BE49-F238E27FC236}">
                  <a16:creationId xmlns:a16="http://schemas.microsoft.com/office/drawing/2014/main" id="{380F225D-9111-F51A-D884-0A861415FB6E}"/>
                </a:ext>
              </a:extLst>
            </p:cNvPr>
            <p:cNvSpPr/>
            <p:nvPr/>
          </p:nvSpPr>
          <p:spPr>
            <a:xfrm>
              <a:off x="320040" y="777240"/>
              <a:ext cx="2743200" cy="347472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6" name="Text 6">
              <a:extLst>
                <a:ext uri="{FF2B5EF4-FFF2-40B4-BE49-F238E27FC236}">
                  <a16:creationId xmlns:a16="http://schemas.microsoft.com/office/drawing/2014/main" id="{4F38307F-0E47-9361-AE5F-35CDF3607BB8}"/>
                </a:ext>
              </a:extLst>
            </p:cNvPr>
            <p:cNvSpPr/>
            <p:nvPr/>
          </p:nvSpPr>
          <p:spPr>
            <a:xfrm>
              <a:off x="320040" y="77724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RISK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FF0B041A-70F7-AA25-505F-CB719F5A5524}"/>
                </a:ext>
              </a:extLst>
            </p:cNvPr>
            <p:cNvSpPr/>
            <p:nvPr/>
          </p:nvSpPr>
          <p:spPr>
            <a:xfrm>
              <a:off x="320040" y="1152144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C0392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669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8">
              <a:extLst>
                <a:ext uri="{FF2B5EF4-FFF2-40B4-BE49-F238E27FC236}">
                  <a16:creationId xmlns:a16="http://schemas.microsoft.com/office/drawing/2014/main" id="{2B35071D-C770-366C-E294-07C08270ECA8}"/>
                </a:ext>
              </a:extLst>
            </p:cNvPr>
            <p:cNvSpPr/>
            <p:nvPr/>
          </p:nvSpPr>
          <p:spPr>
            <a:xfrm>
              <a:off x="320040" y="1655064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Patients  (22%)</a:t>
              </a:r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1CBF3EFB-B48F-A6A2-EAD8-C0C28DFFE693}"/>
                </a:ext>
              </a:extLst>
            </p:cNvPr>
            <p:cNvSpPr/>
            <p:nvPr/>
          </p:nvSpPr>
          <p:spPr>
            <a:xfrm>
              <a:off x="320040" y="1856232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Immediate outreach (24-48 hrs)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Shape 10">
              <a:extLst>
                <a:ext uri="{FF2B5EF4-FFF2-40B4-BE49-F238E27FC236}">
                  <a16:creationId xmlns:a16="http://schemas.microsoft.com/office/drawing/2014/main" id="{31D23AF1-41CB-5A1B-CA33-F927B1B951F3}"/>
                </a:ext>
              </a:extLst>
            </p:cNvPr>
            <p:cNvSpPr/>
            <p:nvPr/>
          </p:nvSpPr>
          <p:spPr>
            <a:xfrm>
              <a:off x="3246120" y="777240"/>
              <a:ext cx="2743200" cy="1389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67511280-285A-455A-37C8-857FD9AFC4D0}"/>
                </a:ext>
              </a:extLst>
            </p:cNvPr>
            <p:cNvSpPr/>
            <p:nvPr/>
          </p:nvSpPr>
          <p:spPr>
            <a:xfrm>
              <a:off x="3246120" y="777240"/>
              <a:ext cx="2743200" cy="347472"/>
            </a:xfrm>
            <a:prstGeom prst="rect">
              <a:avLst/>
            </a:prstGeom>
            <a:solidFill>
              <a:srgbClr val="E8913A"/>
            </a:solidFill>
            <a:ln w="12700">
              <a:solidFill>
                <a:srgbClr val="E8913A"/>
              </a:solidFill>
              <a:prstDash val="solid"/>
            </a:ln>
          </p:spPr>
        </p:sp>
        <p:sp>
          <p:nvSpPr>
            <p:cNvPr id="12" name="Text 12">
              <a:extLst>
                <a:ext uri="{FF2B5EF4-FFF2-40B4-BE49-F238E27FC236}">
                  <a16:creationId xmlns:a16="http://schemas.microsoft.com/office/drawing/2014/main" id="{87B87D82-8A18-FD35-0A77-43EDEA0E7E02}"/>
                </a:ext>
              </a:extLst>
            </p:cNvPr>
            <p:cNvSpPr/>
            <p:nvPr/>
          </p:nvSpPr>
          <p:spPr>
            <a:xfrm>
              <a:off x="3246120" y="77724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MEDIUM RISK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3DF6FFE6-BC4D-6C44-E3CA-98D24ABD48AA}"/>
                </a:ext>
              </a:extLst>
            </p:cNvPr>
            <p:cNvSpPr/>
            <p:nvPr/>
          </p:nvSpPr>
          <p:spPr>
            <a:xfrm>
              <a:off x="3246120" y="1152144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E8913A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166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4">
              <a:extLst>
                <a:ext uri="{FF2B5EF4-FFF2-40B4-BE49-F238E27FC236}">
                  <a16:creationId xmlns:a16="http://schemas.microsoft.com/office/drawing/2014/main" id="{8563B185-9D2D-5D1A-99E3-F2873FF66D92}"/>
                </a:ext>
              </a:extLst>
            </p:cNvPr>
            <p:cNvSpPr/>
            <p:nvPr/>
          </p:nvSpPr>
          <p:spPr>
            <a:xfrm>
              <a:off x="3246120" y="1655064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Patients  (6%)</a:t>
              </a:r>
            </a:p>
          </p:txBody>
        </p:sp>
        <p:sp>
          <p:nvSpPr>
            <p:cNvPr id="15" name="Text 15">
              <a:extLst>
                <a:ext uri="{FF2B5EF4-FFF2-40B4-BE49-F238E27FC236}">
                  <a16:creationId xmlns:a16="http://schemas.microsoft.com/office/drawing/2014/main" id="{C8C484D7-E189-F40E-FB01-A94D986A734E}"/>
                </a:ext>
              </a:extLst>
            </p:cNvPr>
            <p:cNvSpPr/>
            <p:nvPr/>
          </p:nvSpPr>
          <p:spPr>
            <a:xfrm>
              <a:off x="3246120" y="1856232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Outreach this week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Shape 16">
              <a:extLst>
                <a:ext uri="{FF2B5EF4-FFF2-40B4-BE49-F238E27FC236}">
                  <a16:creationId xmlns:a16="http://schemas.microsoft.com/office/drawing/2014/main" id="{C6AC08B9-8D3E-F458-B465-36BDA2B78196}"/>
                </a:ext>
              </a:extLst>
            </p:cNvPr>
            <p:cNvSpPr/>
            <p:nvPr/>
          </p:nvSpPr>
          <p:spPr>
            <a:xfrm>
              <a:off x="6172200" y="777240"/>
              <a:ext cx="2743200" cy="1389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EF2F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Shape 17">
              <a:extLst>
                <a:ext uri="{FF2B5EF4-FFF2-40B4-BE49-F238E27FC236}">
                  <a16:creationId xmlns:a16="http://schemas.microsoft.com/office/drawing/2014/main" id="{A403FA65-1468-26BA-FFDD-AE77135718EC}"/>
                </a:ext>
              </a:extLst>
            </p:cNvPr>
            <p:cNvSpPr/>
            <p:nvPr/>
          </p:nvSpPr>
          <p:spPr>
            <a:xfrm>
              <a:off x="6172200" y="777240"/>
              <a:ext cx="2743200" cy="347472"/>
            </a:xfrm>
            <a:prstGeom prst="rect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18" name="Text 18">
              <a:extLst>
                <a:ext uri="{FF2B5EF4-FFF2-40B4-BE49-F238E27FC236}">
                  <a16:creationId xmlns:a16="http://schemas.microsoft.com/office/drawing/2014/main" id="{E2D370E8-54A1-6A61-A0BE-817BB04270B7}"/>
                </a:ext>
              </a:extLst>
            </p:cNvPr>
            <p:cNvSpPr/>
            <p:nvPr/>
          </p:nvSpPr>
          <p:spPr>
            <a:xfrm>
              <a:off x="6172200" y="77724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 RISK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9">
              <a:extLst>
                <a:ext uri="{FF2B5EF4-FFF2-40B4-BE49-F238E27FC236}">
                  <a16:creationId xmlns:a16="http://schemas.microsoft.com/office/drawing/2014/main" id="{CC305F57-172D-2CAA-21C2-B6C18DB9139B}"/>
                </a:ext>
              </a:extLst>
            </p:cNvPr>
            <p:cNvSpPr/>
            <p:nvPr/>
          </p:nvSpPr>
          <p:spPr>
            <a:xfrm>
              <a:off x="6172200" y="1152144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D768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2,165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20">
              <a:extLst>
                <a:ext uri="{FF2B5EF4-FFF2-40B4-BE49-F238E27FC236}">
                  <a16:creationId xmlns:a16="http://schemas.microsoft.com/office/drawing/2014/main" id="{14C68698-5B28-DB96-2F0B-6A0743582964}"/>
                </a:ext>
              </a:extLst>
            </p:cNvPr>
            <p:cNvSpPr/>
            <p:nvPr/>
          </p:nvSpPr>
          <p:spPr>
            <a:xfrm>
              <a:off x="6172200" y="1655064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Patients  (72%)</a:t>
              </a:r>
            </a:p>
          </p:txBody>
        </p:sp>
        <p:sp>
          <p:nvSpPr>
            <p:cNvPr id="21" name="Text 21">
              <a:extLst>
                <a:ext uri="{FF2B5EF4-FFF2-40B4-BE49-F238E27FC236}">
                  <a16:creationId xmlns:a16="http://schemas.microsoft.com/office/drawing/2014/main" id="{9B1723C8-B388-4E9D-9C10-B2C2B71CE217}"/>
                </a:ext>
              </a:extLst>
            </p:cNvPr>
            <p:cNvSpPr/>
            <p:nvPr/>
          </p:nvSpPr>
          <p:spPr>
            <a:xfrm>
              <a:off x="6172200" y="1856232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 monitoring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83ED8B7-7100-4F4F-4A26-17D67649642E}"/>
              </a:ext>
            </a:extLst>
          </p:cNvPr>
          <p:cNvGrpSpPr/>
          <p:nvPr/>
        </p:nvGrpSpPr>
        <p:grpSpPr>
          <a:xfrm>
            <a:off x="1525247" y="3601954"/>
            <a:ext cx="9141506" cy="2963227"/>
            <a:chOff x="320040" y="2359152"/>
            <a:chExt cx="8385048" cy="2286000"/>
          </a:xfrm>
        </p:grpSpPr>
        <p:sp>
          <p:nvSpPr>
            <p:cNvPr id="23" name="Text 23">
              <a:extLst>
                <a:ext uri="{FF2B5EF4-FFF2-40B4-BE49-F238E27FC236}">
                  <a16:creationId xmlns:a16="http://schemas.microsoft.com/office/drawing/2014/main" id="{968BE778-C5AE-31A2-9CA1-73DF3DC2F0AA}"/>
                </a:ext>
              </a:extLst>
            </p:cNvPr>
            <p:cNvSpPr/>
            <p:nvPr/>
          </p:nvSpPr>
          <p:spPr>
            <a:xfrm>
              <a:off x="411480" y="2359152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 Flags, High-Risk Cohort (N=669)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Chart 0">
              <a:extLst>
                <a:ext uri="{FF2B5EF4-FFF2-40B4-BE49-F238E27FC236}">
                  <a16:creationId xmlns:a16="http://schemas.microsoft.com/office/drawing/2014/main" id="{4A42EB24-4785-7A53-1362-5F30F2A4B45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97531369"/>
                </p:ext>
              </p:extLst>
            </p:nvPr>
          </p:nvGraphicFramePr>
          <p:xfrm>
            <a:off x="320040" y="2633472"/>
            <a:ext cx="4160520" cy="20116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5" name="Text 25">
              <a:extLst>
                <a:ext uri="{FF2B5EF4-FFF2-40B4-BE49-F238E27FC236}">
                  <a16:creationId xmlns:a16="http://schemas.microsoft.com/office/drawing/2014/main" id="{C791CD07-DFA0-7723-C5F9-99752CDBA0CE}"/>
                </a:ext>
              </a:extLst>
            </p:cNvPr>
            <p:cNvSpPr/>
            <p:nvPr/>
          </p:nvSpPr>
          <p:spPr>
            <a:xfrm>
              <a:off x="4754880" y="2359152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 Support Playbook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Shape 26">
              <a:extLst>
                <a:ext uri="{FF2B5EF4-FFF2-40B4-BE49-F238E27FC236}">
                  <a16:creationId xmlns:a16="http://schemas.microsoft.com/office/drawing/2014/main" id="{2B65049A-B39B-9565-CA10-A6A49B2FF959}"/>
                </a:ext>
              </a:extLst>
            </p:cNvPr>
            <p:cNvSpPr/>
            <p:nvPr/>
          </p:nvSpPr>
          <p:spPr>
            <a:xfrm>
              <a:off x="4754880" y="2706624"/>
              <a:ext cx="310896" cy="31089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27" name="Text 27">
              <a:extLst>
                <a:ext uri="{FF2B5EF4-FFF2-40B4-BE49-F238E27FC236}">
                  <a16:creationId xmlns:a16="http://schemas.microsoft.com/office/drawing/2014/main" id="{DBEF41DE-6BE3-DC4E-03DB-868A8413872B}"/>
                </a:ext>
              </a:extLst>
            </p:cNvPr>
            <p:cNvSpPr/>
            <p:nvPr/>
          </p:nvSpPr>
          <p:spPr>
            <a:xfrm>
              <a:off x="4754880" y="2706624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28">
              <a:extLst>
                <a:ext uri="{FF2B5EF4-FFF2-40B4-BE49-F238E27FC236}">
                  <a16:creationId xmlns:a16="http://schemas.microsoft.com/office/drawing/2014/main" id="{DB014E12-AC4A-C431-532F-B17FF444C249}"/>
                </a:ext>
              </a:extLst>
            </p:cNvPr>
            <p:cNvSpPr/>
            <p:nvPr/>
          </p:nvSpPr>
          <p:spPr>
            <a:xfrm>
              <a:off x="5138928" y="2688336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Refill Rejected / PA Denied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29">
              <a:extLst>
                <a:ext uri="{FF2B5EF4-FFF2-40B4-BE49-F238E27FC236}">
                  <a16:creationId xmlns:a16="http://schemas.microsoft.com/office/drawing/2014/main" id="{A10D5BFA-DB38-3498-A783-1E481686ED6D}"/>
                </a:ext>
              </a:extLst>
            </p:cNvPr>
            <p:cNvSpPr/>
            <p:nvPr/>
          </p:nvSpPr>
          <p:spPr>
            <a:xfrm>
              <a:off x="5138928" y="2916936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Contact SP + initiate appeal; check affordability program enrollment.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Shape 30">
              <a:extLst>
                <a:ext uri="{FF2B5EF4-FFF2-40B4-BE49-F238E27FC236}">
                  <a16:creationId xmlns:a16="http://schemas.microsoft.com/office/drawing/2014/main" id="{2C7FD746-70CB-DB32-FBCB-7485E5531863}"/>
                </a:ext>
              </a:extLst>
            </p:cNvPr>
            <p:cNvSpPr/>
            <p:nvPr/>
          </p:nvSpPr>
          <p:spPr>
            <a:xfrm>
              <a:off x="4754880" y="3401568"/>
              <a:ext cx="310896" cy="310896"/>
            </a:xfrm>
            <a:prstGeom prst="ellipse">
              <a:avLst/>
            </a:prstGeom>
            <a:solidFill>
              <a:srgbClr val="E8913A"/>
            </a:solidFill>
            <a:ln w="12700">
              <a:solidFill>
                <a:srgbClr val="E8913A"/>
              </a:solidFill>
              <a:prstDash val="solid"/>
            </a:ln>
          </p:spPr>
        </p:sp>
        <p:sp>
          <p:nvSpPr>
            <p:cNvPr id="31" name="Text 31">
              <a:extLst>
                <a:ext uri="{FF2B5EF4-FFF2-40B4-BE49-F238E27FC236}">
                  <a16:creationId xmlns:a16="http://schemas.microsoft.com/office/drawing/2014/main" id="{53BFCC12-9840-AB31-E6F6-5676F793469E}"/>
                </a:ext>
              </a:extLst>
            </p:cNvPr>
            <p:cNvSpPr/>
            <p:nvPr/>
          </p:nvSpPr>
          <p:spPr>
            <a:xfrm>
              <a:off x="4754880" y="3401568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32">
              <a:extLst>
                <a:ext uri="{FF2B5EF4-FFF2-40B4-BE49-F238E27FC236}">
                  <a16:creationId xmlns:a16="http://schemas.microsoft.com/office/drawing/2014/main" id="{98AA46B3-03FD-69B3-F7D7-1C1C06378B06}"/>
                </a:ext>
              </a:extLst>
            </p:cNvPr>
            <p:cNvSpPr/>
            <p:nvPr/>
          </p:nvSpPr>
          <p:spPr>
            <a:xfrm>
              <a:off x="5138928" y="3383280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Refill Due Soon / High Cost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33">
              <a:extLst>
                <a:ext uri="{FF2B5EF4-FFF2-40B4-BE49-F238E27FC236}">
                  <a16:creationId xmlns:a16="http://schemas.microsoft.com/office/drawing/2014/main" id="{3BB7AEC1-2835-F01F-E20A-B748DF0B2C7B}"/>
                </a:ext>
              </a:extLst>
            </p:cNvPr>
            <p:cNvSpPr/>
            <p:nvPr/>
          </p:nvSpPr>
          <p:spPr>
            <a:xfrm>
              <a:off x="5138928" y="3611880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Proactive refill reminder; verify co-pay assist enrollment.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Shape 34">
              <a:extLst>
                <a:ext uri="{FF2B5EF4-FFF2-40B4-BE49-F238E27FC236}">
                  <a16:creationId xmlns:a16="http://schemas.microsoft.com/office/drawing/2014/main" id="{972FAE86-FB0A-AE28-CFCD-FDA327E4201A}"/>
                </a:ext>
              </a:extLst>
            </p:cNvPr>
            <p:cNvSpPr/>
            <p:nvPr/>
          </p:nvSpPr>
          <p:spPr>
            <a:xfrm>
              <a:off x="4754880" y="4096512"/>
              <a:ext cx="310896" cy="310896"/>
            </a:xfrm>
            <a:prstGeom prst="ellipse">
              <a:avLst/>
            </a:prstGeom>
            <a:solidFill>
              <a:srgbClr val="0D7680"/>
            </a:solidFill>
            <a:ln w="12700">
              <a:solidFill>
                <a:srgbClr val="0D7680"/>
              </a:solidFill>
              <a:prstDash val="solid"/>
            </a:ln>
          </p:spPr>
        </p:sp>
        <p:sp>
          <p:nvSpPr>
            <p:cNvPr id="35" name="Text 35">
              <a:extLst>
                <a:ext uri="{FF2B5EF4-FFF2-40B4-BE49-F238E27FC236}">
                  <a16:creationId xmlns:a16="http://schemas.microsoft.com/office/drawing/2014/main" id="{BE2FF3B5-B41D-8A89-7E38-C4A0B1E348E3}"/>
                </a:ext>
              </a:extLst>
            </p:cNvPr>
            <p:cNvSpPr/>
            <p:nvPr/>
          </p:nvSpPr>
          <p:spPr>
            <a:xfrm>
              <a:off x="4754880" y="4096512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36">
              <a:extLst>
                <a:ext uri="{FF2B5EF4-FFF2-40B4-BE49-F238E27FC236}">
                  <a16:creationId xmlns:a16="http://schemas.microsoft.com/office/drawing/2014/main" id="{442F7F91-3ECD-79E2-C3DD-24A1D1B9731F}"/>
                </a:ext>
              </a:extLst>
            </p:cNvPr>
            <p:cNvSpPr/>
            <p:nvPr/>
          </p:nvSpPr>
          <p:spPr>
            <a:xfrm>
              <a:off x="5138928" y="4078224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Restricted Payer / Early Therapy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37">
              <a:extLst>
                <a:ext uri="{FF2B5EF4-FFF2-40B4-BE49-F238E27FC236}">
                  <a16:creationId xmlns:a16="http://schemas.microsoft.com/office/drawing/2014/main" id="{CD40D8B2-3F3D-D5B6-6F52-F86ABAD4B56C}"/>
                </a:ext>
              </a:extLst>
            </p:cNvPr>
            <p:cNvSpPr/>
            <p:nvPr/>
          </p:nvSpPr>
          <p:spPr>
            <a:xfrm>
              <a:off x="5138928" y="4306824"/>
              <a:ext cx="3566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Pre-file PA renewal early; schedule structured onboarding call.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8723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433</Words>
  <Application>Microsoft Macintosh PowerPoint</Application>
  <PresentationFormat>Widescreen</PresentationFormat>
  <Paragraphs>87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Specialty Therapy Discontinuation Prediction</vt:lpstr>
      <vt:lpstr>Problem &amp; Analytical Approach</vt:lpstr>
      <vt:lpstr>Model Performance</vt:lpstr>
      <vt:lpstr>Key Discontinuation Drivers</vt:lpstr>
      <vt:lpstr>Business Actions &amp; Recommended Outreach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Mishra</dc:creator>
  <cp:lastModifiedBy>Mayur Mishra</cp:lastModifiedBy>
  <cp:revision>1</cp:revision>
  <dcterms:created xsi:type="dcterms:W3CDTF">2026-04-01T13:37:46Z</dcterms:created>
  <dcterms:modified xsi:type="dcterms:W3CDTF">2026-04-01T14:23:48Z</dcterms:modified>
</cp:coreProperties>
</file>